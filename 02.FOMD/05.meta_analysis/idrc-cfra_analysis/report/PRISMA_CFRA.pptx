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777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AD3337-201D-4B7A-89CE-8A6036027FEF}" v="4" dt="2026-09-29T07:24:51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40" d="100"/>
          <a:sy n="140" d="100"/>
        </p:scale>
        <p:origin x="1698" y="-2412"/>
      </p:cViewPr>
      <p:guideLst>
        <p:guide orient="horz" pos="2448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59999" cy="59999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chez, Andrea Cecilia (Alliance Bioversity-CIAT)" userId="1c01d433-d123-45b5-bcb7-0c97fcfb82b9" providerId="ADAL" clId="{A325AB1F-6288-42B8-9590-E40735262903}"/>
    <pc:docChg chg="addSld delSld modSld">
      <pc:chgData name="Sanchez, Andrea Cecilia (Alliance Bioversity-CIAT)" userId="1c01d433-d123-45b5-bcb7-0c97fcfb82b9" providerId="ADAL" clId="{A325AB1F-6288-42B8-9590-E40735262903}" dt="2026-09-29T07:25:34.855" v="22" actId="20577"/>
      <pc:docMkLst>
        <pc:docMk/>
      </pc:docMkLst>
      <pc:sldChg chg="modSp mod">
        <pc:chgData name="Sanchez, Andrea Cecilia (Alliance Bioversity-CIAT)" userId="1c01d433-d123-45b5-bcb7-0c97fcfb82b9" providerId="ADAL" clId="{A325AB1F-6288-42B8-9590-E40735262903}" dt="2026-09-29T07:25:34.855" v="22" actId="20577"/>
        <pc:sldMkLst>
          <pc:docMk/>
          <pc:sldMk cId="0" sldId="256"/>
        </pc:sldMkLst>
        <pc:spChg chg="mod">
          <ac:chgData name="Sanchez, Andrea Cecilia (Alliance Bioversity-CIAT)" userId="1c01d433-d123-45b5-bcb7-0c97fcfb82b9" providerId="ADAL" clId="{A325AB1F-6288-42B8-9590-E40735262903}" dt="2026-09-29T07:25:34.855" v="22" actId="20577"/>
          <ac:spMkLst>
            <pc:docMk/>
            <pc:sldMk cId="0" sldId="256"/>
            <ac:spMk id="34" creationId="{00000000-0000-0000-0000-000000000000}"/>
          </ac:spMkLst>
        </pc:spChg>
        <pc:spChg chg="mod">
          <ac:chgData name="Sanchez, Andrea Cecilia (Alliance Bioversity-CIAT)" userId="1c01d433-d123-45b5-bcb7-0c97fcfb82b9" providerId="ADAL" clId="{A325AB1F-6288-42B8-9590-E40735262903}" dt="2026-09-29T07:24:30.528" v="2" actId="21"/>
          <ac:spMkLst>
            <pc:docMk/>
            <pc:sldMk cId="0" sldId="256"/>
            <ac:spMk id="35" creationId="{00000000-0000-0000-0000-000000000000}"/>
          </ac:spMkLst>
        </pc:spChg>
        <pc:spChg chg="mod">
          <ac:chgData name="Sanchez, Andrea Cecilia (Alliance Bioversity-CIAT)" userId="1c01d433-d123-45b5-bcb7-0c97fcfb82b9" providerId="ADAL" clId="{A325AB1F-6288-42B8-9590-E40735262903}" dt="2026-09-29T07:24:43.260" v="7" actId="21"/>
          <ac:spMkLst>
            <pc:docMk/>
            <pc:sldMk cId="0" sldId="256"/>
            <ac:spMk id="36" creationId="{00000000-0000-0000-0000-000000000000}"/>
          </ac:spMkLst>
        </pc:spChg>
        <pc:spChg chg="mod">
          <ac:chgData name="Sanchez, Andrea Cecilia (Alliance Bioversity-CIAT)" userId="1c01d433-d123-45b5-bcb7-0c97fcfb82b9" providerId="ADAL" clId="{A325AB1F-6288-42B8-9590-E40735262903}" dt="2026-09-29T07:24:47.422" v="9" actId="21"/>
          <ac:spMkLst>
            <pc:docMk/>
            <pc:sldMk cId="0" sldId="256"/>
            <ac:spMk id="37" creationId="{00000000-0000-0000-0000-000000000000}"/>
          </ac:spMkLst>
        </pc:spChg>
        <pc:spChg chg="mod">
          <ac:chgData name="Sanchez, Andrea Cecilia (Alliance Bioversity-CIAT)" userId="1c01d433-d123-45b5-bcb7-0c97fcfb82b9" providerId="ADAL" clId="{A325AB1F-6288-42B8-9590-E40735262903}" dt="2026-09-29T07:24:50.505" v="11" actId="21"/>
          <ac:spMkLst>
            <pc:docMk/>
            <pc:sldMk cId="0" sldId="256"/>
            <ac:spMk id="38" creationId="{00000000-0000-0000-0000-000000000000}"/>
          </ac:spMkLst>
        </pc:spChg>
      </pc:sldChg>
      <pc:sldChg chg="add del">
        <pc:chgData name="Sanchez, Andrea Cecilia (Alliance Bioversity-CIAT)" userId="1c01d433-d123-45b5-bcb7-0c97fcfb82b9" providerId="ADAL" clId="{A325AB1F-6288-42B8-9590-E40735262903}" dt="2026-09-29T07:23:03.094" v="1" actId="47"/>
        <pc:sldMkLst>
          <pc:docMk/>
          <pc:sldMk cId="262719546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39033-5D18-8A23-34C2-E4A0EECD6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272011"/>
            <a:ext cx="5143500" cy="270594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9381C-6FC5-6C05-0BBF-124C8F4DD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082310"/>
            <a:ext cx="5143500" cy="1876530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C0B25-EC4D-F74C-D84F-215017826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6B3B-6F3B-42CE-A91C-9CFD355187E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AECD3-49DB-43C4-7B01-57676C554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C4B71-FB46-B964-B276-71FE67F33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D385A-9A8C-4B7F-B712-69A3691007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315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68027-3940-100E-8881-E49101CA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9A62A-E74B-DDE5-E337-C8FB81860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E4ACE-BB2E-3A4E-476C-6FC5E1BAE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6B3B-6F3B-42CE-A91C-9CFD355187E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9D85E-EB2F-E494-DA48-5EB70004A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5C35F-93EB-DA3F-9DD5-1D95FD178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D385A-9A8C-4B7F-B712-69A3691007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577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F0B1E-94F7-5DA6-9F57-95F5C8660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7" y="1937705"/>
            <a:ext cx="5915025" cy="323310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CF8B5-EA5E-B4EB-1DDA-80C12BBBF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7" y="5201393"/>
            <a:ext cx="5915025" cy="1700212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E5953-BF5B-2006-0A00-6D468CED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6B3B-6F3B-42CE-A91C-9CFD355187E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D0970-D373-8C3C-0BE3-B1C9725D9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94F44-ECE4-C9E7-6ECC-882CBA9D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D385A-9A8C-4B7F-B712-69A3691007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83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99B2A-B369-6F9D-ABBE-1B9F71C69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34037-8C3B-71D0-E552-7AC1A362AE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069042"/>
            <a:ext cx="291465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9B961D-5EB8-917F-9371-39EC1F657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069042"/>
            <a:ext cx="291465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3E95A-451D-4720-7D7D-36142B190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6B3B-6F3B-42CE-A91C-9CFD355187E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FBA34-121F-B9AC-C65D-3AC9C5475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1504D-2603-06A1-0819-A0CF6E71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D385A-9A8C-4B7F-B712-69A3691007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522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1BEDB-2EE9-9ABC-4B29-7EB233ACC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413810"/>
            <a:ext cx="5915025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A573F-A523-9A8E-91B9-A1E9D129E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1905318"/>
            <a:ext cx="2901255" cy="933767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3382F4-733B-7FF7-E1A5-21DC67C10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2839085"/>
            <a:ext cx="2901255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6C391F-B580-D029-4FFC-066544431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4" y="1905318"/>
            <a:ext cx="2915543" cy="933767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86FDAB-AE8D-DB0E-76E6-C72B0567C1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4" y="2839085"/>
            <a:ext cx="2915543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CA9358-385A-850E-E569-F823681B0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6B3B-6F3B-42CE-A91C-9CFD355187E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4649EF-6EFA-66FB-EA6F-438A864D2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15D619-720C-80BE-6307-59F31A07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D385A-9A8C-4B7F-B712-69A3691007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326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2709E-0A2F-99B2-7F11-9639DD70D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3804F0-7FC9-0F08-8E19-DAD9212F3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6B3B-6F3B-42CE-A91C-9CFD355187E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06B35D-B126-61C7-86C5-DB07DEDDB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57B118-C464-CC4B-48D8-CACB53B2E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D385A-9A8C-4B7F-B712-69A3691007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869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EEB353-E95B-0FA1-FD45-50D72FFFE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6B3B-6F3B-42CE-A91C-9CFD355187E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A10D0A-5E5C-8FB0-B105-F499AF017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ED84D-A8BF-C69A-E73B-75532FF99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D385A-9A8C-4B7F-B712-69A3691007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585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DF9C9-3100-785C-A75D-7302D8CEF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518160"/>
            <a:ext cx="2211883" cy="181356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07B2D-8733-A48C-AF6E-B46FA8C4F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4" y="1119083"/>
            <a:ext cx="3471863" cy="552344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FA6092-F74C-B893-8AF8-03734021E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2331720"/>
            <a:ext cx="2211883" cy="4319800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FAC4A-3866-DC4C-4C54-C068297C9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6B3B-6F3B-42CE-A91C-9CFD355187E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295DA-F102-AADE-43C2-FBAFD454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47ACB-9379-7C41-AA5C-45E9BA8D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D385A-9A8C-4B7F-B712-69A3691007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457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8EA92-FF6B-FD1E-DBD0-AC61E46AF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518160"/>
            <a:ext cx="2211883" cy="181356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2D968A-4A37-591A-7B91-99F0CA8510D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2915544" y="1119083"/>
            <a:ext cx="3471863" cy="552344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57848-665D-DA98-87C0-EEFAB9100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2331720"/>
            <a:ext cx="2211883" cy="4319800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3344B-B007-DE82-D202-C54A26FE8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6B3B-6F3B-42CE-A91C-9CFD355187E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F024B-DDC3-1A07-66F4-4FF952416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338C3-AAC5-EFED-0E40-94705429E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D385A-9A8C-4B7F-B712-69A3691007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4261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07F0-1F65-4873-8BBC-21E98327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D71E8-DD34-CB04-9957-86B3F052D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2962B-52B9-7324-5212-F4D157A30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6B3B-6F3B-42CE-A91C-9CFD355187E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C942F-2296-FF80-585A-BD40D8051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7AB20-4865-1E16-2CD1-72BE028C6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D385A-9A8C-4B7F-B712-69A3691007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3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C141C6-80B1-F2D2-4292-CE858F24C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413808"/>
            <a:ext cx="1478756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B0808-F348-D69A-ABCB-C89F51A55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413808"/>
            <a:ext cx="4350544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0AD9D-5FB8-3383-E03D-0EBBB9A9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6B3B-6F3B-42CE-A91C-9CFD355187E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F1805-F757-4781-1333-6DF326BE3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7B25B-901E-0486-1788-12E3A7E1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D385A-9A8C-4B7F-B712-69A3691007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89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DD6434-A806-E983-EC5E-A967BAA3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413810"/>
            <a:ext cx="5915025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FB7B2-5867-B788-3E6C-E8D7F401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9" y="2069042"/>
            <a:ext cx="5915025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D59E7-4F3D-496C-B2C1-04D5CAF569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7203865"/>
            <a:ext cx="154305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AF6B3B-6F3B-42CE-A91C-9CFD355187E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E4865-1DE0-5666-8274-004826A61B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4" y="7203865"/>
            <a:ext cx="2314575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B2021-F36A-5CB3-7965-5996F08E77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7203865"/>
            <a:ext cx="154305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1D385A-9A8C-4B7F-B712-69A3691007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18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6858000" cy="7772400"/>
            <a:chOff x="0" y="0"/>
            <a:chExt cx="6858000" cy="77724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6858000" cy="7772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6858000" cy="7772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0" y="62680"/>
              <a:ext cx="417443" cy="1096911"/>
            </a:xfrm>
            <a:prstGeom prst="rect">
              <a:avLst/>
            </a:prstGeom>
            <a:solidFill>
              <a:srgbClr val="DCE6F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0" y="1190932"/>
              <a:ext cx="417443" cy="1911759"/>
            </a:xfrm>
            <a:prstGeom prst="rect">
              <a:avLst/>
            </a:prstGeom>
            <a:solidFill>
              <a:srgbClr val="DCE6F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0" y="3134032"/>
              <a:ext cx="417443" cy="3290733"/>
            </a:xfrm>
            <a:prstGeom prst="rect">
              <a:avLst/>
            </a:prstGeom>
            <a:solidFill>
              <a:srgbClr val="DCE6F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0" y="6456106"/>
              <a:ext cx="417443" cy="1284953"/>
            </a:xfrm>
            <a:prstGeom prst="rect">
              <a:avLst/>
            </a:prstGeom>
            <a:solidFill>
              <a:srgbClr val="DCE6F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" name="tx9"/>
            <p:cNvSpPr/>
            <p:nvPr/>
          </p:nvSpPr>
          <p:spPr>
            <a:xfrm rot="-5400000">
              <a:off x="-197542" y="563020"/>
              <a:ext cx="809416" cy="9623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4" b="1">
                  <a:solidFill>
                    <a:srgbClr val="1F3B57">
                      <a:alpha val="100000"/>
                    </a:srgbClr>
                  </a:solidFill>
                  <a:latin typeface="Arial"/>
                  <a:cs typeface="Arial"/>
                </a:rPr>
                <a:t>Identification</a:t>
              </a:r>
            </a:p>
          </p:txBody>
        </p:sp>
        <p:sp>
          <p:nvSpPr>
            <p:cNvPr id="10" name="tx10"/>
            <p:cNvSpPr/>
            <p:nvPr/>
          </p:nvSpPr>
          <p:spPr>
            <a:xfrm rot="-5400000">
              <a:off x="-120240" y="2085770"/>
              <a:ext cx="628960" cy="1220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4" b="1">
                  <a:solidFill>
                    <a:srgbClr val="1F3B57">
                      <a:alpha val="100000"/>
                    </a:srgbClr>
                  </a:solidFill>
                  <a:latin typeface="Arial"/>
                  <a:cs typeface="Arial"/>
                </a:rPr>
                <a:t>Screening</a:t>
              </a:r>
            </a:p>
          </p:txBody>
        </p:sp>
        <p:sp>
          <p:nvSpPr>
            <p:cNvPr id="11" name="tx11"/>
            <p:cNvSpPr/>
            <p:nvPr/>
          </p:nvSpPr>
          <p:spPr>
            <a:xfrm rot="-5400000">
              <a:off x="-94071" y="4719151"/>
              <a:ext cx="578209" cy="12049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4" b="1">
                  <a:solidFill>
                    <a:srgbClr val="1F3B57">
                      <a:alpha val="100000"/>
                    </a:srgbClr>
                  </a:solidFill>
                  <a:latin typeface="Arial"/>
                  <a:cs typeface="Arial"/>
                </a:rPr>
                <a:t>Eligibility</a:t>
              </a:r>
            </a:p>
          </p:txBody>
        </p:sp>
        <p:sp>
          <p:nvSpPr>
            <p:cNvPr id="12" name="tx12"/>
            <p:cNvSpPr/>
            <p:nvPr/>
          </p:nvSpPr>
          <p:spPr>
            <a:xfrm rot="-5400000">
              <a:off x="-59453" y="7051261"/>
              <a:ext cx="534826" cy="946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4" b="1">
                  <a:solidFill>
                    <a:srgbClr val="1F3B57">
                      <a:alpha val="100000"/>
                    </a:srgbClr>
                  </a:solidFill>
                  <a:latin typeface="Arial"/>
                  <a:cs typeface="Arial"/>
                </a:rPr>
                <a:t>Included</a:t>
              </a:r>
            </a:p>
          </p:txBody>
        </p:sp>
        <p:sp>
          <p:nvSpPr>
            <p:cNvPr id="13" name="rc13"/>
            <p:cNvSpPr/>
            <p:nvPr/>
          </p:nvSpPr>
          <p:spPr>
            <a:xfrm>
              <a:off x="775252" y="109691"/>
              <a:ext cx="2743199" cy="7835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flat">
              <a:solidFill>
                <a:srgbClr val="1F3B5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775252" y="1206602"/>
              <a:ext cx="2743199" cy="5954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flat">
              <a:solidFill>
                <a:srgbClr val="1F3B5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775252" y="2209492"/>
              <a:ext cx="2743199" cy="5954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flat">
              <a:solidFill>
                <a:srgbClr val="1F3B5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775252" y="3212383"/>
              <a:ext cx="2743199" cy="5954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flat">
              <a:solidFill>
                <a:srgbClr val="1F3B5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775252" y="4403315"/>
              <a:ext cx="2743199" cy="5954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flat">
              <a:solidFill>
                <a:srgbClr val="1F3B5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775252" y="6518787"/>
              <a:ext cx="2743199" cy="11909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flat">
              <a:solidFill>
                <a:srgbClr val="1F3B5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tx19"/>
            <p:cNvSpPr/>
            <p:nvPr/>
          </p:nvSpPr>
          <p:spPr>
            <a:xfrm>
              <a:off x="882958" y="261413"/>
              <a:ext cx="2527787" cy="9834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Primary studies identified in four source meta-datasets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891985" y="380875"/>
              <a:ext cx="509732" cy="9834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(n = 2,459)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923457" y="508524"/>
              <a:ext cx="2446789" cy="90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Rosenstock et al. 2024: 1,811 · </a:t>
              </a:r>
              <a:r>
                <a:rPr sz="825" dirty="0" err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Paut</a:t>
              </a:r>
              <a:r>
                <a:rPr sz="825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et al. 2024: 292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004967" y="640523"/>
              <a:ext cx="2283769" cy="776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Jones et al. 2021: 237 · Sánchez et al. 2022: 119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570140" y="1386273"/>
              <a:ext cx="1153422" cy="958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Unique studies screened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891985" y="1503228"/>
              <a:ext cx="509732" cy="9834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(n = 2,449)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762352" y="2407430"/>
              <a:ext cx="768999" cy="775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Studies included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891985" y="2506118"/>
              <a:ext cx="509732" cy="9834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(n = 2,430)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1299386" y="3410320"/>
              <a:ext cx="1694930" cy="775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Studies with harmonised effect sizes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1216264" y="3509008"/>
              <a:ext cx="1861174" cy="9834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(n = 1,844 studies; 167,802 effect sizes)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1223632" y="4580478"/>
              <a:ext cx="1846438" cy="9834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Effect sizes in the nine project countries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289102" y="4699941"/>
              <a:ext cx="1715500" cy="9834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(n = 637 studies; 42,892 effect sizes)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322642" y="6635296"/>
              <a:ext cx="1648419" cy="9834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Effect sizes included in the analysis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289102" y="6754759"/>
              <a:ext cx="1715500" cy="9834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(n = 346 studies; 18,506 effect sizes)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146852" y="6972565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endParaRPr/>
            </a:p>
          </p:txBody>
        </p:sp>
        <p:sp>
          <p:nvSpPr>
            <p:cNvPr id="34" name="tx34"/>
            <p:cNvSpPr/>
            <p:nvPr/>
          </p:nvSpPr>
          <p:spPr>
            <a:xfrm>
              <a:off x="1028170" y="6874220"/>
              <a:ext cx="2151758" cy="78848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25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Studies (effect sizes) by country</a:t>
              </a:r>
              <a:endParaRPr lang="en-US" sz="825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  <a:p>
              <a:r>
                <a:rPr lang="fi-FI" sz="825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Ethiopia 143 (7,059) · Kenya 86 (4,769)</a:t>
              </a:r>
            </a:p>
            <a:p>
              <a:r>
                <a:rPr lang="it-IT" sz="825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Tanzania 41 (2,803) · Uganda 25 (1,441)</a:t>
              </a:r>
            </a:p>
            <a:p>
              <a:r>
                <a:rPr lang="pl-PL" sz="825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Malawi 40 (1,057) · Zambia 21 (845)</a:t>
              </a:r>
            </a:p>
            <a:p>
              <a:r>
                <a:rPr lang="it-IT" sz="825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Rwanda 13 (838) · Angola 0 · Burundi 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226421" y="7113145"/>
              <a:ext cx="1840861" cy="9834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endParaRPr sz="825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36" name="tx36"/>
            <p:cNvSpPr/>
            <p:nvPr/>
          </p:nvSpPr>
          <p:spPr>
            <a:xfrm>
              <a:off x="1194390" y="7232608"/>
              <a:ext cx="1904923" cy="9834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endParaRPr sz="825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37" name="tx37"/>
            <p:cNvSpPr/>
            <p:nvPr/>
          </p:nvSpPr>
          <p:spPr>
            <a:xfrm>
              <a:off x="1299412" y="7352070"/>
              <a:ext cx="1694879" cy="9834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endParaRPr sz="825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38" name="tx38"/>
            <p:cNvSpPr/>
            <p:nvPr/>
          </p:nvSpPr>
          <p:spPr>
            <a:xfrm>
              <a:off x="1220639" y="7471532"/>
              <a:ext cx="1852425" cy="9834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25"/>
                </a:lnSpc>
                <a:spcBef>
                  <a:spcPts val="0"/>
                </a:spcBef>
                <a:spcAft>
                  <a:spcPts val="0"/>
                </a:spcAft>
              </a:pPr>
              <a:endParaRPr sz="825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39" name="rc39"/>
            <p:cNvSpPr/>
            <p:nvPr/>
          </p:nvSpPr>
          <p:spPr>
            <a:xfrm>
              <a:off x="4174434" y="814848"/>
              <a:ext cx="2623930" cy="376083"/>
            </a:xfrm>
            <a:prstGeom prst="rect">
              <a:avLst/>
            </a:prstGeom>
            <a:solidFill>
              <a:srgbClr val="F4F4F4">
                <a:alpha val="100000"/>
              </a:srgbClr>
            </a:solidFill>
            <a:ln w="1084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4174434" y="1755058"/>
              <a:ext cx="2623930" cy="501445"/>
            </a:xfrm>
            <a:prstGeom prst="rect">
              <a:avLst/>
            </a:prstGeom>
            <a:solidFill>
              <a:srgbClr val="F4F4F4">
                <a:alpha val="100000"/>
              </a:srgbClr>
            </a:solidFill>
            <a:ln w="1084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4174434" y="2757948"/>
              <a:ext cx="2623930" cy="501445"/>
            </a:xfrm>
            <a:prstGeom prst="rect">
              <a:avLst/>
            </a:prstGeom>
            <a:solidFill>
              <a:srgbClr val="F4F4F4">
                <a:alpha val="100000"/>
              </a:srgbClr>
            </a:solidFill>
            <a:ln w="1084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4174434" y="3854859"/>
              <a:ext cx="2623930" cy="501445"/>
            </a:xfrm>
            <a:prstGeom prst="rect">
              <a:avLst/>
            </a:prstGeom>
            <a:solidFill>
              <a:srgbClr val="F4F4F4">
                <a:alpha val="100000"/>
              </a:srgbClr>
            </a:solidFill>
            <a:ln w="1084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4174434" y="5453216"/>
              <a:ext cx="2623930" cy="1065570"/>
            </a:xfrm>
            <a:prstGeom prst="rect">
              <a:avLst/>
            </a:prstGeom>
            <a:solidFill>
              <a:srgbClr val="F4F4F4">
                <a:alpha val="100000"/>
              </a:srgbClr>
            </a:solidFill>
            <a:ln w="1084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tx44"/>
            <p:cNvSpPr/>
            <p:nvPr/>
          </p:nvSpPr>
          <p:spPr>
            <a:xfrm>
              <a:off x="4849517" y="944149"/>
              <a:ext cx="1273765" cy="949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Duplicates removed (n = 10)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857915" y="1889368"/>
              <a:ext cx="1256968" cy="949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Excluded at full text (n = 16)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82245" y="2004711"/>
              <a:ext cx="1808309" cy="949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Screening unresolved or pending (n = 3)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63884" y="2892258"/>
              <a:ext cx="1645031" cy="949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Awaiting manual extraction (n = 579)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641430" y="3007601"/>
              <a:ext cx="1689939" cy="949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Not harmonised in this release (n = 7)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732752" y="3989120"/>
              <a:ext cx="1507295" cy="950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Outside the nine project countries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587901" y="4104513"/>
              <a:ext cx="1796996" cy="949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(n = 1,207 studies; 124,910 effect sizes)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722921" y="5638903"/>
              <a:ext cx="1526957" cy="949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Effect sizes excluded (n = 24,386)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4437616" y="5755185"/>
              <a:ext cx="2097566" cy="9401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Livestock outcomes or animal systems: 10,866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4805844" y="5890586"/>
              <a:ext cx="1361110" cy="739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 usable site coordinates: 78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4524690" y="5986118"/>
              <a:ext cx="1923419" cy="9376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Control or treatment mean not reported: 18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4651162" y="6108179"/>
              <a:ext cx="1670474" cy="8704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Identical control and treatment: 3,317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4558408" y="6216557"/>
              <a:ext cx="1855983" cy="9401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Practice reported in one arm only: 10,107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2146852" y="893199"/>
              <a:ext cx="0" cy="313403"/>
            </a:xfrm>
            <a:custGeom>
              <a:avLst/>
              <a:gdLst/>
              <a:ahLst/>
              <a:cxnLst/>
              <a:rect l="0" t="0" r="0" b="0"/>
              <a:pathLst>
                <a:path h="313403">
                  <a:moveTo>
                    <a:pt x="0" y="0"/>
                  </a:moveTo>
                  <a:lnTo>
                    <a:pt x="0" y="313403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g58"/>
            <p:cNvSpPr/>
            <p:nvPr/>
          </p:nvSpPr>
          <p:spPr>
            <a:xfrm>
              <a:off x="2114452" y="1150483"/>
              <a:ext cx="64799" cy="56118"/>
            </a:xfrm>
            <a:custGeom>
              <a:avLst/>
              <a:gdLst/>
              <a:ahLst/>
              <a:cxnLst/>
              <a:rect l="0" t="0" r="0" b="0"/>
              <a:pathLst>
                <a:path w="64799" h="56118">
                  <a:moveTo>
                    <a:pt x="0" y="0"/>
                  </a:moveTo>
                  <a:lnTo>
                    <a:pt x="32399" y="56118"/>
                  </a:lnTo>
                  <a:lnTo>
                    <a:pt x="64799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2146852" y="1802068"/>
              <a:ext cx="0" cy="407424"/>
            </a:xfrm>
            <a:custGeom>
              <a:avLst/>
              <a:gdLst/>
              <a:ahLst/>
              <a:cxnLst/>
              <a:rect l="0" t="0" r="0" b="0"/>
              <a:pathLst>
                <a:path h="407424">
                  <a:moveTo>
                    <a:pt x="0" y="0"/>
                  </a:moveTo>
                  <a:lnTo>
                    <a:pt x="0" y="407424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g60"/>
            <p:cNvSpPr/>
            <p:nvPr/>
          </p:nvSpPr>
          <p:spPr>
            <a:xfrm>
              <a:off x="2114452" y="2153374"/>
              <a:ext cx="64799" cy="56118"/>
            </a:xfrm>
            <a:custGeom>
              <a:avLst/>
              <a:gdLst/>
              <a:ahLst/>
              <a:cxnLst/>
              <a:rect l="0" t="0" r="0" b="0"/>
              <a:pathLst>
                <a:path w="64799" h="56118">
                  <a:moveTo>
                    <a:pt x="0" y="0"/>
                  </a:moveTo>
                  <a:lnTo>
                    <a:pt x="32399" y="56118"/>
                  </a:lnTo>
                  <a:lnTo>
                    <a:pt x="64799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2146852" y="2804958"/>
              <a:ext cx="0" cy="407424"/>
            </a:xfrm>
            <a:custGeom>
              <a:avLst/>
              <a:gdLst/>
              <a:ahLst/>
              <a:cxnLst/>
              <a:rect l="0" t="0" r="0" b="0"/>
              <a:pathLst>
                <a:path h="407424">
                  <a:moveTo>
                    <a:pt x="0" y="0"/>
                  </a:moveTo>
                  <a:lnTo>
                    <a:pt x="0" y="407424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g62"/>
            <p:cNvSpPr/>
            <p:nvPr/>
          </p:nvSpPr>
          <p:spPr>
            <a:xfrm>
              <a:off x="2114452" y="3156264"/>
              <a:ext cx="64799" cy="56118"/>
            </a:xfrm>
            <a:custGeom>
              <a:avLst/>
              <a:gdLst/>
              <a:ahLst/>
              <a:cxnLst/>
              <a:rect l="0" t="0" r="0" b="0"/>
              <a:pathLst>
                <a:path w="64799" h="56118">
                  <a:moveTo>
                    <a:pt x="0" y="0"/>
                  </a:moveTo>
                  <a:lnTo>
                    <a:pt x="32399" y="56118"/>
                  </a:lnTo>
                  <a:lnTo>
                    <a:pt x="64799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2146852" y="3807849"/>
              <a:ext cx="0" cy="595466"/>
            </a:xfrm>
            <a:custGeom>
              <a:avLst/>
              <a:gdLst/>
              <a:ahLst/>
              <a:cxnLst/>
              <a:rect l="0" t="0" r="0" b="0"/>
              <a:pathLst>
                <a:path h="595466">
                  <a:moveTo>
                    <a:pt x="0" y="0"/>
                  </a:moveTo>
                  <a:lnTo>
                    <a:pt x="0" y="595466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g64"/>
            <p:cNvSpPr/>
            <p:nvPr/>
          </p:nvSpPr>
          <p:spPr>
            <a:xfrm>
              <a:off x="2114452" y="4347196"/>
              <a:ext cx="64799" cy="56118"/>
            </a:xfrm>
            <a:custGeom>
              <a:avLst/>
              <a:gdLst/>
              <a:ahLst/>
              <a:cxnLst/>
              <a:rect l="0" t="0" r="0" b="0"/>
              <a:pathLst>
                <a:path w="64799" h="56118">
                  <a:moveTo>
                    <a:pt x="0" y="0"/>
                  </a:moveTo>
                  <a:lnTo>
                    <a:pt x="32399" y="56118"/>
                  </a:lnTo>
                  <a:lnTo>
                    <a:pt x="64799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2146852" y="4998781"/>
              <a:ext cx="0" cy="1520005"/>
            </a:xfrm>
            <a:custGeom>
              <a:avLst/>
              <a:gdLst/>
              <a:ahLst/>
              <a:cxnLst/>
              <a:rect l="0" t="0" r="0" b="0"/>
              <a:pathLst>
                <a:path h="1520005">
                  <a:moveTo>
                    <a:pt x="0" y="0"/>
                  </a:moveTo>
                  <a:lnTo>
                    <a:pt x="0" y="15200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g66"/>
            <p:cNvSpPr/>
            <p:nvPr/>
          </p:nvSpPr>
          <p:spPr>
            <a:xfrm>
              <a:off x="2114452" y="6462668"/>
              <a:ext cx="64799" cy="56118"/>
            </a:xfrm>
            <a:custGeom>
              <a:avLst/>
              <a:gdLst/>
              <a:ahLst/>
              <a:cxnLst/>
              <a:rect l="0" t="0" r="0" b="0"/>
              <a:pathLst>
                <a:path w="64799" h="56118">
                  <a:moveTo>
                    <a:pt x="0" y="0"/>
                  </a:moveTo>
                  <a:lnTo>
                    <a:pt x="32399" y="56118"/>
                  </a:lnTo>
                  <a:lnTo>
                    <a:pt x="64799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2146852" y="1002890"/>
              <a:ext cx="2027582" cy="0"/>
            </a:xfrm>
            <a:custGeom>
              <a:avLst/>
              <a:gdLst/>
              <a:ahLst/>
              <a:cxnLst/>
              <a:rect l="0" t="0" r="0" b="0"/>
              <a:pathLst>
                <a:path w="2027582">
                  <a:moveTo>
                    <a:pt x="0" y="0"/>
                  </a:moveTo>
                  <a:lnTo>
                    <a:pt x="2027582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g68"/>
            <p:cNvSpPr/>
            <p:nvPr/>
          </p:nvSpPr>
          <p:spPr>
            <a:xfrm>
              <a:off x="4118316" y="970490"/>
              <a:ext cx="56118" cy="64799"/>
            </a:xfrm>
            <a:custGeom>
              <a:avLst/>
              <a:gdLst/>
              <a:ahLst/>
              <a:cxnLst/>
              <a:rect l="0" t="0" r="0" b="0"/>
              <a:pathLst>
                <a:path w="56118" h="64799">
                  <a:moveTo>
                    <a:pt x="0" y="64799"/>
                  </a:moveTo>
                  <a:lnTo>
                    <a:pt x="56118" y="323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2146852" y="2005780"/>
              <a:ext cx="2027582" cy="0"/>
            </a:xfrm>
            <a:custGeom>
              <a:avLst/>
              <a:gdLst/>
              <a:ahLst/>
              <a:cxnLst/>
              <a:rect l="0" t="0" r="0" b="0"/>
              <a:pathLst>
                <a:path w="2027582">
                  <a:moveTo>
                    <a:pt x="0" y="0"/>
                  </a:moveTo>
                  <a:lnTo>
                    <a:pt x="2027582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g70"/>
            <p:cNvSpPr/>
            <p:nvPr/>
          </p:nvSpPr>
          <p:spPr>
            <a:xfrm>
              <a:off x="4118316" y="1973380"/>
              <a:ext cx="56118" cy="64800"/>
            </a:xfrm>
            <a:custGeom>
              <a:avLst/>
              <a:gdLst/>
              <a:ahLst/>
              <a:cxnLst/>
              <a:rect l="0" t="0" r="0" b="0"/>
              <a:pathLst>
                <a:path w="56118" h="64800">
                  <a:moveTo>
                    <a:pt x="0" y="64800"/>
                  </a:moveTo>
                  <a:lnTo>
                    <a:pt x="56118" y="323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2146852" y="3008670"/>
              <a:ext cx="2027582" cy="0"/>
            </a:xfrm>
            <a:custGeom>
              <a:avLst/>
              <a:gdLst/>
              <a:ahLst/>
              <a:cxnLst/>
              <a:rect l="0" t="0" r="0" b="0"/>
              <a:pathLst>
                <a:path w="2027582">
                  <a:moveTo>
                    <a:pt x="0" y="0"/>
                  </a:moveTo>
                  <a:lnTo>
                    <a:pt x="2027582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g72"/>
            <p:cNvSpPr/>
            <p:nvPr/>
          </p:nvSpPr>
          <p:spPr>
            <a:xfrm>
              <a:off x="4118316" y="2976270"/>
              <a:ext cx="56118" cy="64800"/>
            </a:xfrm>
            <a:custGeom>
              <a:avLst/>
              <a:gdLst/>
              <a:ahLst/>
              <a:cxnLst/>
              <a:rect l="0" t="0" r="0" b="0"/>
              <a:pathLst>
                <a:path w="56118" h="64800">
                  <a:moveTo>
                    <a:pt x="0" y="64800"/>
                  </a:moveTo>
                  <a:lnTo>
                    <a:pt x="56118" y="3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2146852" y="4105582"/>
              <a:ext cx="2027582" cy="0"/>
            </a:xfrm>
            <a:custGeom>
              <a:avLst/>
              <a:gdLst/>
              <a:ahLst/>
              <a:cxnLst/>
              <a:rect l="0" t="0" r="0" b="0"/>
              <a:pathLst>
                <a:path w="2027582">
                  <a:moveTo>
                    <a:pt x="0" y="0"/>
                  </a:moveTo>
                  <a:lnTo>
                    <a:pt x="2027582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g74"/>
            <p:cNvSpPr/>
            <p:nvPr/>
          </p:nvSpPr>
          <p:spPr>
            <a:xfrm>
              <a:off x="4118316" y="4073182"/>
              <a:ext cx="56118" cy="64800"/>
            </a:xfrm>
            <a:custGeom>
              <a:avLst/>
              <a:gdLst/>
              <a:ahLst/>
              <a:cxnLst/>
              <a:rect l="0" t="0" r="0" b="0"/>
              <a:pathLst>
                <a:path w="56118" h="64800">
                  <a:moveTo>
                    <a:pt x="0" y="64800"/>
                  </a:moveTo>
                  <a:lnTo>
                    <a:pt x="56118" y="323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2146852" y="5986001"/>
              <a:ext cx="2027582" cy="0"/>
            </a:xfrm>
            <a:custGeom>
              <a:avLst/>
              <a:gdLst/>
              <a:ahLst/>
              <a:cxnLst/>
              <a:rect l="0" t="0" r="0" b="0"/>
              <a:pathLst>
                <a:path w="2027582">
                  <a:moveTo>
                    <a:pt x="0" y="0"/>
                  </a:moveTo>
                  <a:lnTo>
                    <a:pt x="2027582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g76"/>
            <p:cNvSpPr/>
            <p:nvPr/>
          </p:nvSpPr>
          <p:spPr>
            <a:xfrm>
              <a:off x="4118316" y="5953601"/>
              <a:ext cx="56118" cy="64799"/>
            </a:xfrm>
            <a:custGeom>
              <a:avLst/>
              <a:gdLst/>
              <a:ahLst/>
              <a:cxnLst/>
              <a:rect l="0" t="0" r="0" b="0"/>
              <a:pathLst>
                <a:path w="56118" h="64799">
                  <a:moveTo>
                    <a:pt x="0" y="64799"/>
                  </a:moveTo>
                  <a:lnTo>
                    <a:pt x="56118" y="323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E3C66ACF4393458051577D36AC6C25" ma:contentTypeVersion="12" ma:contentTypeDescription="Create a new document." ma:contentTypeScope="" ma:versionID="4e0e0d96de7fb32b1678b66c28514d8e">
  <xsd:schema xmlns:xsd="http://www.w3.org/2001/XMLSchema" xmlns:xs="http://www.w3.org/2001/XMLSchema" xmlns:p="http://schemas.microsoft.com/office/2006/metadata/properties" xmlns:ns2="4b26243c-b736-4d9c-b036-479be2ad88a1" xmlns:ns3="432dd258-9dce-4cb3-b611-c68c0fbce7f3" targetNamespace="http://schemas.microsoft.com/office/2006/metadata/properties" ma:root="true" ma:fieldsID="ac451aab8c96dec805c937cbafca7133" ns2:_="" ns3:_="">
    <xsd:import namespace="4b26243c-b736-4d9c-b036-479be2ad88a1"/>
    <xsd:import namespace="432dd258-9dce-4cb3-b611-c68c0fbce7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26243c-b736-4d9c-b036-479be2ad88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1616629-9183-4d38-9e3a-f9db27d53a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2dd258-9dce-4cb3-b611-c68c0fbce7f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b260203-45af-472f-8d6d-708aeb0066fe}" ma:internalName="TaxCatchAll" ma:showField="CatchAllData" ma:web="432dd258-9dce-4cb3-b611-c68c0fbce7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b26243c-b736-4d9c-b036-479be2ad88a1">
      <Terms xmlns="http://schemas.microsoft.com/office/infopath/2007/PartnerControls"/>
    </lcf76f155ced4ddcb4097134ff3c332f>
    <TaxCatchAll xmlns="432dd258-9dce-4cb3-b611-c68c0fbce7f3" xsi:nil="true"/>
  </documentManagement>
</p:properties>
</file>

<file path=customXml/itemProps1.xml><?xml version="1.0" encoding="utf-8"?>
<ds:datastoreItem xmlns:ds="http://schemas.openxmlformats.org/officeDocument/2006/customXml" ds:itemID="{F28DE718-EDE7-464B-9AB2-27A57D2272FC}"/>
</file>

<file path=customXml/itemProps2.xml><?xml version="1.0" encoding="utf-8"?>
<ds:datastoreItem xmlns:ds="http://schemas.openxmlformats.org/officeDocument/2006/customXml" ds:itemID="{248901B5-2BAF-44D0-9B4B-6B2F27B3DD60}"/>
</file>

<file path=customXml/itemProps3.xml><?xml version="1.0" encoding="utf-8"?>
<ds:datastoreItem xmlns:ds="http://schemas.openxmlformats.org/officeDocument/2006/customXml" ds:itemID="{956D598B-A71D-4C01-9F5E-E7202280D511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261</Words>
  <Application>Microsoft Office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Sanchez, Andrea Cecilia (Alliance Bioversity-CIAT)</dc:creator>
  <cp:lastModifiedBy>Sanchez, Andrea Cecilia (Alliance Bioversity-CIAT)</cp:lastModifiedBy>
  <cp:revision>1</cp:revision>
  <dcterms:created xsi:type="dcterms:W3CDTF">2026-09-29T07:13:18Z</dcterms:created>
  <dcterms:modified xsi:type="dcterms:W3CDTF">2026-09-29T07:25:38Z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0x0101005BE3C66ACF4393458051577D36AC6C25</vt:lpwstr>
  </property>
</Properties>
</file>